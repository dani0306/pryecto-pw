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EC1109-41F9-322C-68AF-ADCF4931F796}" v="50" dt="2026-09-26T12:18:20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2742F-B272-4D4C-AF40-551E6684ECB3}" type="datetimeFigureOut">
              <a:t>26/09/2026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A9833-6976-4215-9A19-7F7684874D1A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37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Presentar al equipo y el proyecto: Classly es una plataforma web para que un estudiante universitario organice sus clases, entregas y apuntes, y use IA para convertir esos apuntes en material de repaso. La sustentación tiene dos partes: primero, para alguien que no programa, qué problema resolvemos y cómo se verá; después, para desarrolladores, cómo está construido y por 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Explicar el orden de la sustentación y quién presenta cada parte. Recordar que cualquier integrante puede responder preguntas sobre cualquier sección del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Transición a la parte no técnica. Hablar sin términos técnicos, como si se le explicara a un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Describir la situación de hoy: el horario, los enunciados, los avisos y los apuntes llegan por canales distintos. Consecuencias: entregas olvidadas, apuntes difíciles de usar y estudio poco efectivo. Las herramientas actuales resuelven partes aisladas: el calendario no guarda apuntes, la app de notas no conoce las fechas y un chat de IA no conserva el contexto de cada materia.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Contar las cifras con calma: la mayoría estudia releyendo, aunque ponerse a prueba da mejores resultados (56 % contra 42 % una semana después). Además, casi todos los universitarios postergan tareas. Conclusión: el problema no es solo de orden sino también de cómo se estudia, y eso justifica los quizzes y el calendario.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Explicar la idea en una frase y los tres pilares. Ejemplo: Valentina crea la clase Programación Web con su horario de lunes y miércoles, registra el taller como tarea, resume sus apuntes y antes del parcial genera un quiz para ponerse a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Leer el objetivo general y recorrer los seis específicos insistiendo en cómo se sabrá que se lograron: cada uno tiene una meta numérica y una prueba definida en la sección 3 del documento (por ejemplo, una prueba de usabilidad con 5 estudiantes o 50 solicitudes simultáneas para comprobar los límites).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Explicar qué incluye la versión que se entregará y, con la misma claridad, qué no. Mencionar que se retiran de la versión inicial cosas que no funcionaban o no existían, como los botones de GitHub y Facebook o la mención de OCR en la publicidad.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La IA tiene un costo por cada generación; por eso hay un plan gratuito con límites y uno pago de USD 12 al mes. El plan se activa solo cuando Paddle confirma el pago, y si el estudiante cancela conserva Pro hasta el fin del periodo pagado.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Mostrar la página pública: funciones, planes y botones. Al pulsar Iniciar sesión se abre la ventana con un único botón de Google. En el primer ingreso la cuenta se crea con el plan Starter; si la persona es administradora, entra a su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Mis clases es la pantalla de llegada del estudiante. Al crear una clase se define el horario; el sistema no deja guardar sesiones que se crucen dentro de la misma clase. En el detalle de la clase se ven sus contenidos y se filtran por 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Mateo tiene el plan Starter: ve los seis tipos, con Quiz y Diagrama bloqueados. En el formulario ve cuántas ayudas de IA le quedan; al crear, la IA corrige su texto y la tarea queda en la clase y en el calendario. Luego la puede abrir, editar o marcar como completada.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Valentina es Pro: genera un quiz con sus apuntes, lo responde y ve su puntaje; el quiz queda bloqueado. En Todos los contenidos encuentra cualquier cosa sin recordar en qué clase quedó, y el calendario le muestra sus clases y entregas de la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En Configuración el estudiante ve su plan y cuánta IA usó en el mes. Al mejorar a Pro se abre la ventana de pago de Paddle; el plan cambia solo cuando Paddle avisa al servidor que el pago se confirmó. La cancelación se hace en el portal de Paddle.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Camila, la administradora, entra con Google y llega al panel: ve cuántos usuarios hay, cuántos son Pro y cuánta IA se usó este mes. Puede suspender una cuenta que abusa de la IA indicando el motivo, y cambiar los límites de los planes sin tocar código. Todo queda registrado en la bitácora, y nunca ve los contenidos de los estudiantes.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3]. Transición a la parte técnica, dirigida a otros desarrolladores.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3]. El navegador solo muestra la interfaz; toda la lógica corre en el servidor Next.js mediante acciones de servidor, que verifican la sesión y el rol. Supabase da la autenticación con Google, la base PostgreSQL con seguridad por filas (RLS) y el almacenamiento de archivos. OpenAI genera los textos y las imágenes, y Paddle cobra y avisa al servidor con webhooks firmados.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3]. Hay dos roles con permisos distintos: Estudiante y Administrador. Starter y Pro no son roles sino planes del estudiante que cambian los límites de IA. El login es con Google a través de Supabase Auth; no guardamos contraseñas. En el primer ingreso se crea el perfil con rol estudiante y plan Starter. El proxy y cada acción de servidor verifican la sesión y el rol, así que ocultar botones no es la única protección.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3]. Los requerimientos están agrupados por área. Los más importantes son el login con Google, la creación de contenidos con IA controlada por los límites del plan, el calendario y las funciones del administrador. Todos tienen identificador, rol, prioridad, la funcionalidad de la que salen y la pantalla donde se ven (sección 7 del documento).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3]. Ningún requerimiento no funcional dice solo que la plataforma es rápida o segura: todos tienen un número. Por ejemplo, las pantallas principales cargan en menos de 2 segundos, un quiz se genera en menos de 30, el contraste del texto es de al menos 4,5 a 1 y el 100 % de las tablas tiene seguridad por filas.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4]. El usuario es el centro: tiene clases, contenidos, suscripciones y registros de uso de IA. Cada contenido pertenece a una clase y guarda por separado lo que escribió el estudiante y el resultado de la IA. Para el rol de administrador agregamos role e is_active en users y la tabla admin_actions como bitácora. Los límites de cada plan están en plan_limits y la función consume_ai_credit los cruza con ai_usage antes de cada generación.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4]. Destacar que las reglas no dependen de la interfaz: el plan lo decide Paddle mediante el webhook, los límites se cuentan en la base de datos, el administrador no puede ver contenidos y un quiz enviado ya no se puede cambiar.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4]. Recorrer el diagrama: el visitante entra por la página pública y el inicio de sesión; según el rol llega a Mis clases o al Panel. El flujo principal del estudiante va de Mis clases al detalle de una clase, de ahí al tipo de contenido y al formulario, y al crear vuelve a la clase. Todos los contenidos, el Calendario y la Configuración se abren desde la barra lateral. Cada pantalla tiene su imagen en el mockup y sus requerimientos en la sección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4]. Explicar cada decisión con su razón. La más importante es que la seguridad y los límites viven en la base de datos: aunque alguien llame la API directamente, solo ve sus propias filas y no puede exceder su plan ni cambiar su rol. Las decisiones completas (D-01 a D-12) están en la sección 13 del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4]. Diferenciar restricciones (límites que nos imponen el tiempo, la tecnología o el costo) de supuestos (condiciones que damos por ciertas y que, si cambian, obligan a actualizar el documento).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Todos. Cerrar con una frase: Classly une organizar, recordar y repasar en un solo lugar. Abrir las preguntas: cualquier integrante debe poder explicar cualquier sección del documento y por qué el equipo decidió así.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2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anielc-dev-PARCIAL-PW/abde4a46-13e0-4506-a2bc-8a08fd8ea390/scratchpad/deck-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47548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Classly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745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del proyecto</a:t>
            </a:r>
            <a:endParaRPr lang="en-US" sz="3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926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espacio de estudio con IA: clases, entregas y apuntes en un solo lugar.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5F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Web (IF2003) · Grupo 603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34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D1D5DB"/>
                </a:solidFill>
                <a:latin typeface="Arial"/>
                <a:ea typeface="Arial" pitchFamily="34" charset="-122"/>
                <a:cs typeface="Arial"/>
              </a:rPr>
              <a:t>Grupo 4</a:t>
            </a:r>
          </a:p>
          <a:p>
            <a:endParaRPr lang="en-US" sz="1300" dirty="0">
              <a:solidFill>
                <a:srgbClr val="D1D5DB"/>
              </a:solidFill>
              <a:latin typeface="Arial"/>
              <a:ea typeface="Calibri" panose="020F0502020204030204"/>
              <a:cs typeface="Arial"/>
            </a:endParaRPr>
          </a:p>
          <a:p>
            <a:r>
              <a:rPr lang="en-US" sz="1300" dirty="0">
                <a:solidFill>
                  <a:srgbClr val="D1D5DB"/>
                </a:solidFill>
                <a:latin typeface="Arial"/>
                <a:ea typeface="Calibri" panose="020F0502020204030204"/>
                <a:cs typeface="Arial"/>
              </a:rPr>
              <a:t>Daniel Colorado</a:t>
            </a:r>
          </a:p>
          <a:p>
            <a:r>
              <a:rPr lang="en-US" sz="1300" dirty="0">
                <a:solidFill>
                  <a:srgbClr val="D1D5DB"/>
                </a:solidFill>
                <a:latin typeface="Arial"/>
                <a:ea typeface="Calibri" panose="020F0502020204030204"/>
                <a:cs typeface="Arial"/>
              </a:rPr>
              <a:t>Juan Jose Hernandez</a:t>
            </a:r>
          </a:p>
          <a:p>
            <a:endParaRPr lang="en-US" sz="1300" dirty="0">
              <a:solidFill>
                <a:srgbClr val="D1D5DB"/>
              </a:solidFill>
              <a:latin typeface="Arial"/>
              <a:ea typeface="Calibri" panose="020F0502020204030204"/>
              <a:cs typeface="Arial"/>
            </a:endParaRPr>
          </a:p>
          <a:p>
            <a:endParaRPr lang="en-US" sz="1300" dirty="0">
              <a:solidFill>
                <a:srgbClr val="D1D5DB"/>
              </a:solidFill>
              <a:latin typeface="Arial"/>
              <a:ea typeface="Calibri" panose="020F0502020204030204"/>
              <a:cs typeface="Arial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52157" y="5503985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de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46520" y="1417320"/>
            <a:ext cx="5257800" cy="3429000"/>
          </a:xfrm>
          <a:prstGeom prst="roundRect">
            <a:avLst>
              <a:gd name="adj" fmla="val 4267"/>
            </a:avLst>
          </a:prstGeom>
          <a:solidFill>
            <a:srgbClr val="1F2937"/>
          </a:solidFill>
          <a:ln w="19050">
            <a:solidFill>
              <a:srgbClr val="35F527"/>
            </a:solidFill>
            <a:prstDash val="solid"/>
          </a:ln>
        </p:spPr>
      </p:sp>
      <p:pic>
        <p:nvPicPr>
          <p:cNvPr id="10" name="Image 1" descr="Detalle de clase en Classl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554480"/>
            <a:ext cx="4983480" cy="31144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sustentación tiene dos partes y todos los integrantes participan.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resolvemos y cómo se verá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33101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2918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y a quién afecta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7673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7490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objetivos y cómo se medirán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42245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2062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alcance: qué incluye y qué no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6817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46634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mockup: recorrido de cada rol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669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Presentan: [Integrante 1] y [Integrante 2]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1920240"/>
            <a:ext cx="544068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2194560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2194560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está construido y por qué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583680" y="33101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013448" y="32918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funcionales y no funcionales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83680" y="37673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13448" y="37490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permisos y login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83680" y="42245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8368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013448" y="42062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583680" y="46817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013448" y="46634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y flujo entre ellas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583680" y="51389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8368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013448" y="51206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y decisiones del equipo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5669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Presentan: [Integrante 3] y [Integrante 4]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945490" cy="27432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9525">
            <a:solidFill>
              <a:srgbClr val="35F5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945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5F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técnica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alguien que no programa: el problema, lo que queremos lograr, qué incluye el proyecto y cómo se verá la plataforma.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problema: la información del estudiante está dispersa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materia llega por un canal distinto y no hay un lugar donde ver todo junto.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221992"/>
            <a:ext cx="548640" cy="54864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353666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8803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27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documento de la universidad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37560" y="196596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11880" y="2221992"/>
            <a:ext cx="548640" cy="54864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554" y="2353666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11880" y="28803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Enunciados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3227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plataforma del curso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97764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233672"/>
            <a:ext cx="548640" cy="54864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4365346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" y="48920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y fechas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239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grupos de chat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3337560" y="397764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11880" y="4233672"/>
            <a:ext cx="548640" cy="54864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3554" y="4365346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611880" y="48920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Apuntes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3611880" y="5239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cuadernos y en el celular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355080" y="1965960"/>
            <a:ext cx="5285232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Consecuencias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6675120" y="274320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2852928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96912" y="27614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y parciales que se olvidan o se preparan a última hora.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6675120" y="347472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848" y="3584448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96912" y="34930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Apuntes con errores, incompletos o demasiado largos para repasar.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6675120" y="420624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4315968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296912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estudia releyendo, la técnica menos efectiva.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6675120" y="493776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4848" y="5047488"/>
            <a:ext cx="237744" cy="2377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7296912" y="4956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perdido copiando fechas y buscando en qué cuaderno quedó un tema.</a:t>
            </a:r>
            <a:endParaRPr lang="en-US" sz="1350" dirty="0"/>
          </a:p>
        </p:txBody>
      </p:sp>
      <p:sp>
        <p:nvSpPr>
          <p:cNvPr id="41" name="Text 3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sobre todo a estudiantes de pregrado con varias materias; también a sus compañeros de equipo y a sus profesores.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en cifras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estudios publicados; las fuentes completas están en las referencias del documento.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33472" cy="306324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2240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089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177 universitarios relee sus apuntes para estudiar; el 55 % lo tiene como estrategia principal.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Karpicke, Butler y Roediger, 2009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2011680"/>
            <a:ext cx="2633472" cy="306324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21024" y="2240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31089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 recordar (ponerse a prueba) y solo el 1 % lo tiene como estrategia principal.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Karpicke, Butler y Roediger, 2009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2011680"/>
            <a:ext cx="2633472" cy="306324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37376" y="2240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56 % vs 42 %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31089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recuerdan una semana después quienes se pusieron a prueba frente a quienes solo releyeron.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Roediger y Karpicke, 2006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97696" y="2011680"/>
            <a:ext cx="2633472" cy="306324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53728" y="2240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80–95 %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253728" y="31089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universitarios posterga sus tareas; casi la mitad lo hace de forma constante y problemática.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Steel, 2007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1082528" cy="777240"/>
          </a:xfrm>
          <a:prstGeom prst="roundRect">
            <a:avLst>
              <a:gd name="adj" fmla="val 16471"/>
            </a:avLst>
          </a:prstGeom>
          <a:solidFill>
            <a:srgbClr val="E8F5E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440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Practicar con preguntas y repartir el estudio en el tiempo son las técnicas de mayor utilidad (Dunlosky et al., 2013). Por eso Classly prioriza los quizzes y el calendario.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solución: Classly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web que organiza todo alrededor de la clase y usa IA para convertir apuntes en material de repaso.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658368" cy="658368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2169688"/>
            <a:ext cx="342351" cy="342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3957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clase con su horario semanal, y un calendario con las sesiones y las entregas.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658368" cy="658368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349556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319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37216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corrige notas, resume textos, genera quizzes con puntaje y dibuja diagramas.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663440"/>
            <a:ext cx="658368" cy="658368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482144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4645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olvida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50474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y recordatorios con fecha y prioridad, visibles en el calendario.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989320" y="1965960"/>
            <a:ext cx="5641848" cy="3526155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3" descr="Mockup pantalla 0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965960"/>
            <a:ext cx="5641848" cy="352615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989320" y="5577840"/>
            <a:ext cx="5641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una clase: contenidos de seis tipos, cada uno generado o corregido con IA.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82528" cy="914400"/>
          </a:xfrm>
          <a:prstGeom prst="roundRect">
            <a:avLst>
              <a:gd name="adj" fmla="val 14000"/>
            </a:avLst>
          </a:prstGeom>
          <a:solidFill>
            <a:srgbClr val="0F17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5F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0078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Poner en funcionamiento, antes de terminar el semestre, una plataforma donde el estudiante organice clases, entregas y apuntes y los convierta con IA en material de repaso, con un administrador que controle el uso de la 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78892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78892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1638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confiable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51129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de las clases y entregas en el día y la hora correctos.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256032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53712" y="278892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3712" y="278892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31638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rápido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351129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con horario en menos de 2 min; tarea en menos de 1 min.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256032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02752" y="278892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2752" y="278892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31638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con preguntas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302752" y="351129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en menos de 30 s en el 90 % de los casos; 4 opciones y 1 correcta.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57200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457200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49469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IA controlado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29437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generaciones por encima del límite del plan, aun con solicitudes simultáneas.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297680" y="434340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53712" y="457200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3712" y="457200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OE-5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53712" y="49469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sin código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4553712" y="529437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de límite aplica en la siguiente generación; todo queda en la bitácora.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46720" y="434340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02752" y="457200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02752" y="457200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302752" y="49469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protegidos</a:t>
            </a:r>
            <a:endParaRPr lang="en-US" sz="1550" dirty="0"/>
          </a:p>
        </p:txBody>
      </p:sp>
      <p:sp>
        <p:nvSpPr>
          <p:cNvPr id="38" name="Text 36"/>
          <p:cNvSpPr txBox="1"/>
          <p:nvPr/>
        </p:nvSpPr>
        <p:spPr>
          <a:xfrm>
            <a:off x="8302752" y="529437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lecturas de datos ajenos y 0 claves secretas en el navegador.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está en "incluye" no se construye.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413248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1214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2724912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5" y="2799527"/>
            <a:ext cx="161666" cy="16166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25880" y="26974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sesión con Google y roles estudiante y administrador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3200400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5" y="3275015"/>
            <a:ext cx="161666" cy="16166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25880" y="3172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con horario semanal validado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68680" y="3675888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5" y="3750503"/>
            <a:ext cx="161666" cy="1616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648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tipos de contenido con IA, con adjuntos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68680" y="4151376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5" y="4225991"/>
            <a:ext cx="161666" cy="16166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4123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contenidos (búsqueda y filtros) y calendario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868680" y="4626864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5" y="4701479"/>
            <a:ext cx="161666" cy="16166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599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Starter y Pro con pagos en Paddle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68680" y="5102352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5" y="5176967"/>
            <a:ext cx="161666" cy="16166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2588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administración, suspensiones y límites de planes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868680" y="5577840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5" y="5652455"/>
            <a:ext cx="161666" cy="16166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325880" y="5550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en español y adaptable desde 360 px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6217920" y="1920240"/>
            <a:ext cx="5413248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6537960" y="21214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incluye</a:t>
            </a:r>
            <a:endParaRPr lang="en-US" sz="1900" dirty="0"/>
          </a:p>
        </p:txBody>
      </p:sp>
      <p:sp>
        <p:nvSpPr>
          <p:cNvPr id="32" name="Shape 23"/>
          <p:cNvSpPr/>
          <p:nvPr/>
        </p:nvSpPr>
        <p:spPr>
          <a:xfrm>
            <a:off x="6537960" y="2724912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575" y="2799527"/>
            <a:ext cx="161666" cy="16166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95160" y="26974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móvil nativa o modo sin conexión</a:t>
            </a:r>
            <a:endParaRPr lang="en-US" sz="1350" dirty="0"/>
          </a:p>
        </p:txBody>
      </p:sp>
      <p:sp>
        <p:nvSpPr>
          <p:cNvPr id="35" name="Shape 25"/>
          <p:cNvSpPr/>
          <p:nvPr/>
        </p:nvSpPr>
        <p:spPr>
          <a:xfrm>
            <a:off x="6537960" y="3200400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575" y="3275015"/>
            <a:ext cx="161666" cy="16166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995160" y="3172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con correo y contraseña, GitHub o Facebook</a:t>
            </a:r>
            <a:endParaRPr lang="en-US" sz="1350" dirty="0"/>
          </a:p>
        </p:txBody>
      </p:sp>
      <p:sp>
        <p:nvSpPr>
          <p:cNvPr id="38" name="Shape 27"/>
          <p:cNvSpPr/>
          <p:nvPr/>
        </p:nvSpPr>
        <p:spPr>
          <a:xfrm>
            <a:off x="6537960" y="3675888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575" y="3750503"/>
            <a:ext cx="161666" cy="161666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995160" y="3648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de profesor o trabajo colaborativo</a:t>
            </a:r>
            <a:endParaRPr lang="en-US" sz="1350" dirty="0"/>
          </a:p>
        </p:txBody>
      </p:sp>
      <p:sp>
        <p:nvSpPr>
          <p:cNvPr id="41" name="Shape 29"/>
          <p:cNvSpPr/>
          <p:nvPr/>
        </p:nvSpPr>
        <p:spPr>
          <a:xfrm>
            <a:off x="6537960" y="4151376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575" y="4225991"/>
            <a:ext cx="161666" cy="161666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6995160" y="4123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con la IA sobre los apuntes</a:t>
            </a:r>
            <a:endParaRPr lang="en-US" sz="1350" dirty="0"/>
          </a:p>
        </p:txBody>
      </p:sp>
      <p:sp>
        <p:nvSpPr>
          <p:cNvPr id="44" name="Shape 31"/>
          <p:cNvSpPr/>
          <p:nvPr/>
        </p:nvSpPr>
        <p:spPr>
          <a:xfrm>
            <a:off x="6537960" y="4626864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575" y="4701479"/>
            <a:ext cx="161666" cy="16166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995160" y="4599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Reconocimiento de texto en imágenes (OCR)</a:t>
            </a:r>
            <a:endParaRPr lang="en-US" sz="1350" dirty="0"/>
          </a:p>
        </p:txBody>
      </p:sp>
      <p:sp>
        <p:nvSpPr>
          <p:cNvPr id="47" name="Shape 33"/>
          <p:cNvSpPr/>
          <p:nvPr/>
        </p:nvSpPr>
        <p:spPr>
          <a:xfrm>
            <a:off x="6537960" y="5102352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575" y="5176967"/>
            <a:ext cx="161666" cy="161666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99516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por correo, SMS o push</a:t>
            </a:r>
            <a:endParaRPr lang="en-US" sz="1350" dirty="0"/>
          </a:p>
        </p:txBody>
      </p:sp>
      <p:sp>
        <p:nvSpPr>
          <p:cNvPr id="50" name="Shape 35"/>
          <p:cNvSpPr/>
          <p:nvPr/>
        </p:nvSpPr>
        <p:spPr>
          <a:xfrm>
            <a:off x="6537960" y="5577840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575" y="5652455"/>
            <a:ext cx="161666" cy="161666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6995160" y="5550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con Moodle, Classroom o Google Calendar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planes: Starter y Pro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límites se controlan en la base de datos y el administrador los puede ajustar.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1920240"/>
            <a:ext cx="489204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3716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60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54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organizar las clases y probar la IA.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6941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437" y="3760013"/>
            <a:ext cx="142646" cy="14264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78308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ayudas de escritura con IA al mes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371600" y="41513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437" y="4217213"/>
            <a:ext cx="142646" cy="14264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78308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resúmenes con IA al mes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1371600" y="46085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437" y="4674413"/>
            <a:ext cx="142646" cy="14264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8308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con horario, calendario y búsqueda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1371600" y="50657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437" y="5131613"/>
            <a:ext cx="142646" cy="14264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8308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Adjuntos de hasta 5 MB por archivo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1371600" y="5522976"/>
            <a:ext cx="274320" cy="27432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437" y="5588813"/>
            <a:ext cx="142646" cy="14264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783080" y="5486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quizzes ni diagramas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263640" y="1920240"/>
            <a:ext cx="489204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25400">
            <a:solidFill>
              <a:srgbClr val="35F527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66294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6629400" y="2560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5803D"/>
                </a:solidFill>
                <a:latin typeface="Arial"/>
                <a:ea typeface="Arial" pitchFamily="34" charset="-122"/>
                <a:cs typeface="Arial"/>
              </a:rPr>
              <a:t>USD 5 / </a:t>
            </a:r>
            <a:r>
              <a:rPr lang="en-US" sz="3000" b="1" dirty="0" err="1">
                <a:solidFill>
                  <a:srgbClr val="15803D"/>
                </a:solidFill>
                <a:latin typeface="Arial"/>
                <a:ea typeface="Arial" pitchFamily="34" charset="-122"/>
                <a:cs typeface="Arial"/>
              </a:rPr>
              <a:t>mes</a:t>
            </a:r>
            <a:endParaRPr lang="en-US" sz="3000" dirty="0">
              <a:latin typeface="Arial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6629400" y="3154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estudiar con todas las herramientas de IA.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6629400" y="36941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237" y="3760013"/>
            <a:ext cx="142646" cy="14264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4088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 de escritura, resúmenes y quizzes sin límite mensual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6629400" y="41513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237" y="4217213"/>
            <a:ext cx="142646" cy="14264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04088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diagramas con IA al mes</a:t>
            </a:r>
            <a:endParaRPr lang="en-US" sz="1350" dirty="0"/>
          </a:p>
        </p:txBody>
      </p:sp>
      <p:sp>
        <p:nvSpPr>
          <p:cNvPr id="36" name="Shape 27"/>
          <p:cNvSpPr/>
          <p:nvPr/>
        </p:nvSpPr>
        <p:spPr>
          <a:xfrm>
            <a:off x="6629400" y="46085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237" y="4674413"/>
            <a:ext cx="142646" cy="142646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704088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100 generaciones con IA cada 24 horas</a:t>
            </a:r>
            <a:endParaRPr lang="en-US" sz="1350" dirty="0"/>
          </a:p>
        </p:txBody>
      </p:sp>
      <p:sp>
        <p:nvSpPr>
          <p:cNvPr id="39" name="Shape 29"/>
          <p:cNvSpPr/>
          <p:nvPr/>
        </p:nvSpPr>
        <p:spPr>
          <a:xfrm>
            <a:off x="6629400" y="50657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237" y="5131613"/>
            <a:ext cx="142646" cy="142646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04088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incluido en Starter</a:t>
            </a:r>
            <a:endParaRPr lang="en-US" sz="1350" dirty="0"/>
          </a:p>
        </p:txBody>
      </p:sp>
      <p:sp>
        <p:nvSpPr>
          <p:cNvPr id="42" name="Shape 31"/>
          <p:cNvSpPr/>
          <p:nvPr/>
        </p:nvSpPr>
        <p:spPr>
          <a:xfrm>
            <a:off x="6629400" y="55229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237" y="5588813"/>
            <a:ext cx="142646" cy="142646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040880" y="5486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paga y se cancela con Paddle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visitante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 a la página pública y entra con Google; la cuenta se crea sola.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2124" y="2148840"/>
            <a:ext cx="4846320" cy="302895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148840"/>
            <a:ext cx="4846320" cy="30289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92124" y="539724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92124" y="539724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467612" y="5378958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de inicio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92124" y="574471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y planes con los límites vigentes; botones Iniciar sesión y Empieza gratis.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11596" y="366331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341364" y="2148840"/>
            <a:ext cx="4846320" cy="302895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1" descr="Mockup pantalla 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64" y="2148840"/>
            <a:ext cx="4846320" cy="302895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41364" y="539724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341364" y="539724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816852" y="5378958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sesión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341364" y="574471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botón: Continuar con Google. Si la cuenta está suspendida, aquí se muestra el aviso.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estudiante: organizar sus clases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Mateo y Valentina son estudiantes de ejemplo; todos los datos del mockup son ficticios.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3358896" cy="209931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clases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con las clases, buscador y botón Nueva clase; el menú permite editar o eliminar.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80688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10456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1" descr="Mockup pantalla 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456" y="2148840"/>
            <a:ext cx="3358896" cy="209931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10456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410456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885944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o editar clase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410456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descripción, ícono y horario semanal; una sesión que se cruza muestra el error.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842504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8272272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2" descr="Mockup pantalla 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2272" y="2148840"/>
            <a:ext cx="3358896" cy="209931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72272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72272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747760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clase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272272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 de la clase con filtro por tipo y el botón Nuevo.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estudiante: crear con 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tipo de contenido al resultado guardado.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3358896" cy="209931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contenido: tipo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tipos; en Starter, Quiz y Diagrama aparecen con candado.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80688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10456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1" descr="Mockup pantalla 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456" y="2148840"/>
            <a:ext cx="3358896" cy="209931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10456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410456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885944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contenido: formulario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410456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del tipo, adjuntos y los usos de IA que quedan este mes.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842504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8272272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2" descr="Mockup pantalla 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2272" y="2148840"/>
            <a:ext cx="3358896" cy="209931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72272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72272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747760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o editar contenido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272272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corregido por la IA; completar, editar, adjuntos y eliminar.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estudiante: estudiar y planear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Practicar con preguntas, encontrar todo y ver la semana.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3358896" cy="209931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quiz (Pro)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de opción múltiple; al enviar, el puntaje y las respuestas correctas.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80688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10456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1" descr="Mockup pantalla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456" y="2148840"/>
            <a:ext cx="3358896" cy="209931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10456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410456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885944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contenidos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410456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y filtros por tipo y fecha entre todas las clases.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842504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8272272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2" descr="Mockup pantalla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2272" y="2148840"/>
            <a:ext cx="3358896" cy="209931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72272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72272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747760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272272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de clase, tareas y recordatorios por día, semana o mes.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estudiante: su plan y el paso a Pro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reúne el perfil, el plan, el uso de IA del mes y el cierre de sesión.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37719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6035040" cy="37719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5939028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59390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59207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2865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 Mateo (Starter), con el botón Mejorar a Pro.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49440" y="1965960"/>
            <a:ext cx="4681728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26948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pasa a Pro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269480" y="2770632"/>
            <a:ext cx="329184" cy="329184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69480" y="2770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27432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 Mejorar a Pro en Configuración.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269480" y="3410712"/>
            <a:ext cx="329184" cy="329184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26948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33832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abre el checkout de Paddle: Classly no ve los datos de la tarjeta.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269480" y="4050792"/>
            <a:ext cx="329184" cy="329184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26948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726680" y="40233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 confirma el pago al servidor (webhook firmado).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269480" y="4690872"/>
            <a:ext cx="329184" cy="329184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269480" y="4690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726680" y="46634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cambia a Pro y se desbloquean quizzes y diagramas.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269480" y="5330952"/>
            <a:ext cx="329184" cy="329184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269480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726680" y="53035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cancelar, abre el portal de Paddle desde la misma pantalla.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administrador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Métricas, cuentas y límites, sin ver los contenidos de los estudiantes.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2124" y="2148840"/>
            <a:ext cx="4846320" cy="302895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148840"/>
            <a:ext cx="4846320" cy="30289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92124" y="539724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92124" y="539724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467612" y="5378958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administración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92124" y="574471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del mes, tabla de usuarios con Suspender y Reactivar, y la actividad reciente.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11596" y="366331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341364" y="2148840"/>
            <a:ext cx="4846320" cy="302895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1" descr="Mockup pantalla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64" y="2148840"/>
            <a:ext cx="4846320" cy="302895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41364" y="539724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341364" y="539724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816852" y="5378958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de planes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341364" y="574471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mensual o sin límite o no incluido por tipo y plan, con motivo obligatorio.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945490" cy="27432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9525">
            <a:solidFill>
              <a:srgbClr val="35F5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945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5F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desarrolladores: requerimientos, roles y login, modelo de datos, pantallas y flujo, y las decisiones que tomamos.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tecnologías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proyecto Next.js sirve la interfaz y la lógica; los servicios externos hacen identidad, datos, IA y pagos.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926080" cy="356616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3957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53312" y="23042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862072"/>
            <a:ext cx="2514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con Next.js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en español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Adaptable desde 360 px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de Paddle en ventana superpuesta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69080" y="205740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35F527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2286000"/>
            <a:ext cx="457200" cy="45720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239572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873752" y="23042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Next.js 16 · Vercel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297680" y="2862072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proxy.ts: renueva la sesión y protege /app y /admin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 de servidor: validan sesión y rol, y llaman a la base de datos y a la IA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/api/paddle/webhook: verifica la firma de Paddle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claves secretas solo existen aquí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83880" y="2057400"/>
            <a:ext cx="344728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66760" y="2240280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710" y="2341230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915400" y="2221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915400" y="25420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con Google · PostgreSQL con RLS y funciones · Storage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183880" y="3291840"/>
            <a:ext cx="344728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366760" y="3474720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710" y="3575670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915400" y="3456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915400" y="37764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gpt-5-mini (texto) · gpt-4.1-mini con generación de imágenes (diagramas)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83880" y="4526280"/>
            <a:ext cx="344728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366760" y="4709160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10" y="4810110"/>
            <a:ext cx="218724" cy="21872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915400" y="4690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8915400" y="50109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· portal del cliente · webhooks de suscripción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3520440" y="3840480"/>
            <a:ext cx="502920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7635240" y="2606040"/>
            <a:ext cx="502920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7635240" y="3840480"/>
            <a:ext cx="502920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 flipH="1">
            <a:off x="7635240" y="5074920"/>
            <a:ext cx="502920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6" name="Text 29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flechas muestran quién llama a quién; Paddle avisa al servidor con un webhook firmado cuando cambia una suscripción.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permisos y login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y Pro son planes del rol Estudiante; Administrador es otro rol. Una cuenta tiene un solo rol.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4135000" cy="35402520"/>
        </p:xfrm>
        <a:graphic>
          <a:graphicData uri="http://schemas.openxmlformats.org/drawingml/2006/table">
            <a:tbl>
              <a:tblPr/>
              <a:tblGrid>
                <a:gridCol w="1282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2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Visitante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página pública y planes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Gestionar clases y contenidos propios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Notas, tareas, recordatorios, resúmenes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límite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Quizzes y diagramas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Mejorar a Pro / administrar suscripción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Métricas, cuentas y límites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contenidos de otra persona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903720" y="2011680"/>
            <a:ext cx="4727448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223760" y="2212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el login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23760" y="2770632"/>
            <a:ext cx="310896" cy="310896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2376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662672" y="2743200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Continuar con Google → Supabase Auth → Google (OAuth 2.0).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23760" y="3429000"/>
            <a:ext cx="310896" cy="310896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22376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62672" y="3401568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/auth/callback cambia el código por una sesión en cookies; no hay contraseñas.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4087368"/>
            <a:ext cx="310896" cy="310896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2376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662672" y="4059936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ingreso: se crea el perfil con rol student y plan starter.</a:t>
            </a:r>
            <a:endParaRPr lang="en-US" sz="1200" dirty="0"/>
          </a:p>
        </p:txBody>
      </p:sp>
      <p:sp>
        <p:nvSpPr>
          <p:cNvPr id="7" name="Shape 16"/>
          <p:cNvSpPr/>
          <p:nvPr/>
        </p:nvSpPr>
        <p:spPr>
          <a:xfrm>
            <a:off x="7223760" y="4745736"/>
            <a:ext cx="310896" cy="310896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223760" y="4745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662672" y="4718304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is_active es falso se cierra la sesión; si no, admin → /admin y estudiante → /app/classes.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23760" y="5404104"/>
            <a:ext cx="310896" cy="310896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223760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662672" y="5376672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proxy.ts y cada acción de servidor vuelven a comprobar la sesión y el rol.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06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de administrador se asigna solo en la base de datos (RN-02).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funcionales principales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requerimientos: 26 de prioridad alta, 12 media y 1 baja. Cada uno tiene su funcionalidad y su pantalla.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2313798"/>
            <a:ext cx="218724" cy="2187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· RF-01 a RF-08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" y="285649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277977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RF-01 Iniciar sesión con Google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7240" y="314709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307037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RF-03 Llevar a cada rol a su pantalla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343768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60120" y="3360969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RF-05 Bloquear cuentas suspendidas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9768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2628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230" y="2313798"/>
            <a:ext cx="218724" cy="21872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04748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· RF-09 a RF-13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4526280" y="285649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709160" y="277977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RF-09 Crear clase con horario semanal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526280" y="314709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709160" y="307037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RF-10 Validar sesiones sin cruces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26280" y="343768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709160" y="3360969"/>
            <a:ext cx="3035808" cy="398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RF-13 Eliminar clase con contenidos y adjuntos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04672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27532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270" y="2313798"/>
            <a:ext cx="218724" cy="21872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9652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 con IA · RF-14 a RF-27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275320" y="285649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458200" y="277977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RF-15 a RF-19 Seis tipos de contenido con IA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275320" y="314709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458200" y="307037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RF-21 Límite por plan y devolución si falla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275320" y="343768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458200" y="3360969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RF-27 Quiz con puntaje y bloqueo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54864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77724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190" y="4416918"/>
            <a:ext cx="218724" cy="21872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29844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· RF-28 a RF-31</a:t>
            </a:r>
            <a:endParaRPr lang="en-US" sz="1350" dirty="0"/>
          </a:p>
        </p:txBody>
      </p:sp>
      <p:sp>
        <p:nvSpPr>
          <p:cNvPr id="41" name="Shape 35"/>
          <p:cNvSpPr/>
          <p:nvPr/>
        </p:nvSpPr>
        <p:spPr>
          <a:xfrm>
            <a:off x="777240" y="495961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960120" y="488289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RF-28 Búsqueda y filtros en todas las clases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777240" y="525021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960120" y="517349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RF-29 Calendario por día, semana y mes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777240" y="554080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960120" y="5464089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RF-30 Filtro por tipo de evento</a:t>
            </a:r>
            <a:endParaRPr lang="en-US" sz="1150" dirty="0"/>
          </a:p>
        </p:txBody>
      </p:sp>
      <p:sp>
        <p:nvSpPr>
          <p:cNvPr id="47" name="Shape 41"/>
          <p:cNvSpPr/>
          <p:nvPr/>
        </p:nvSpPr>
        <p:spPr>
          <a:xfrm>
            <a:off x="429768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2"/>
          <p:cNvSpPr/>
          <p:nvPr/>
        </p:nvSpPr>
        <p:spPr>
          <a:xfrm>
            <a:off x="452628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7230" y="4416918"/>
            <a:ext cx="218724" cy="218724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504748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y pagos · RF-32 a RF-34</a:t>
            </a:r>
            <a:endParaRPr lang="en-US" sz="1350" dirty="0"/>
          </a:p>
        </p:txBody>
      </p:sp>
      <p:sp>
        <p:nvSpPr>
          <p:cNvPr id="51" name="Shape 44"/>
          <p:cNvSpPr/>
          <p:nvPr/>
        </p:nvSpPr>
        <p:spPr>
          <a:xfrm>
            <a:off x="4526280" y="495961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4709160" y="488289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RF-32 Plan y uso de IA del mes</a:t>
            </a:r>
            <a:endParaRPr lang="en-US" sz="1150" dirty="0"/>
          </a:p>
        </p:txBody>
      </p:sp>
      <p:sp>
        <p:nvSpPr>
          <p:cNvPr id="53" name="Shape 46"/>
          <p:cNvSpPr/>
          <p:nvPr/>
        </p:nvSpPr>
        <p:spPr>
          <a:xfrm>
            <a:off x="4526280" y="525021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4709160" y="517349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RF-33 Pro solo con webhook firmado</a:t>
            </a:r>
            <a:endParaRPr lang="en-US" sz="1150" dirty="0"/>
          </a:p>
        </p:txBody>
      </p:sp>
      <p:sp>
        <p:nvSpPr>
          <p:cNvPr id="55" name="Shape 48"/>
          <p:cNvSpPr/>
          <p:nvPr/>
        </p:nvSpPr>
        <p:spPr>
          <a:xfrm>
            <a:off x="4526280" y="554080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4709160" y="5464089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RF-34 Portal de Paddle para cancelar</a:t>
            </a:r>
            <a:endParaRPr lang="en-US" sz="1150" dirty="0"/>
          </a:p>
        </p:txBody>
      </p:sp>
      <p:sp>
        <p:nvSpPr>
          <p:cNvPr id="57" name="Shape 50"/>
          <p:cNvSpPr/>
          <p:nvPr/>
        </p:nvSpPr>
        <p:spPr>
          <a:xfrm>
            <a:off x="804672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51"/>
          <p:cNvSpPr/>
          <p:nvPr/>
        </p:nvSpPr>
        <p:spPr>
          <a:xfrm>
            <a:off x="827532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6270" y="4416918"/>
            <a:ext cx="218724" cy="218724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879652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· RF-35 a RF-39</a:t>
            </a:r>
            <a:endParaRPr lang="en-US" sz="1350" dirty="0"/>
          </a:p>
        </p:txBody>
      </p:sp>
      <p:sp>
        <p:nvSpPr>
          <p:cNvPr id="61" name="Shape 53"/>
          <p:cNvSpPr/>
          <p:nvPr/>
        </p:nvSpPr>
        <p:spPr>
          <a:xfrm>
            <a:off x="8275320" y="495961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62" name="Text 54"/>
          <p:cNvSpPr txBox="1"/>
          <p:nvPr/>
        </p:nvSpPr>
        <p:spPr>
          <a:xfrm>
            <a:off x="8458200" y="488289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RF-35 Métricas de la plataforma</a:t>
            </a:r>
            <a:endParaRPr lang="en-US" sz="1150" dirty="0"/>
          </a:p>
        </p:txBody>
      </p:sp>
      <p:sp>
        <p:nvSpPr>
          <p:cNvPr id="63" name="Shape 55"/>
          <p:cNvSpPr/>
          <p:nvPr/>
        </p:nvSpPr>
        <p:spPr>
          <a:xfrm>
            <a:off x="8275320" y="525021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64" name="Text 56"/>
          <p:cNvSpPr txBox="1"/>
          <p:nvPr/>
        </p:nvSpPr>
        <p:spPr>
          <a:xfrm>
            <a:off x="8458200" y="517349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RF-37 Suspender o reactivar con motivo</a:t>
            </a:r>
            <a:endParaRPr lang="en-US" sz="1150" dirty="0"/>
          </a:p>
        </p:txBody>
      </p:sp>
      <p:sp>
        <p:nvSpPr>
          <p:cNvPr id="65" name="Shape 57"/>
          <p:cNvSpPr/>
          <p:nvPr/>
        </p:nvSpPr>
        <p:spPr>
          <a:xfrm>
            <a:off x="8275320" y="554080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66" name="Text 58"/>
          <p:cNvSpPr txBox="1"/>
          <p:nvPr/>
        </p:nvSpPr>
        <p:spPr>
          <a:xfrm>
            <a:off x="8458200" y="5464089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RF-38 y RF-39 Límites y bitácora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no funcionales principales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requerimientos, todos con un valor medible y una forma de verificarlo.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2313798"/>
            <a:ext cx="218724" cy="2187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7889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en menos de 2 s (p90). IA: corrección ≤ 15 s; resumen y quiz ≤ 30 s; diagrama ≤ 60 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9768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230" y="2313798"/>
            <a:ext cx="218724" cy="2187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4748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27889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contraseñas (Google). RLS en el 100 % de las tablas. Plan, rol y estado no editables por el usuario. Webhook con firma.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7532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270" y="2313798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9652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7889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360 px de ancho, 100 % en español, contraste de texto de al menos 4,5:1 (WCAG 2.2 AA).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190" y="4416918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9844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Compatibilidad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8920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últimas versiones de Chrome, Edge, Firefox y Safari; Chrome Android y Safari iOS.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429768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2628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7230" y="4416918"/>
            <a:ext cx="218724" cy="21872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04748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Mantenibilidad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4526280" y="48920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errores de TypeScript y ESLint por Pull Request; migraciones con nombre registradas en el documento.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04672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7532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6270" y="4416918"/>
            <a:ext cx="218724" cy="21872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79652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8275320" y="48920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99 % mensual. Si la IA falla, no queda ningún contenido a medias y el uso se devuelve.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de Supabase con RLS en todas las tablas; los archivos van en Storage y solo se guarda su URL.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22225">
            <a:solidFill>
              <a:srgbClr val="35F527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121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administrativa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1401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admin_actions · NUEVA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8833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admin_id, target_user_id, action, reason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201168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7720" y="2121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1401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68833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role (nuevo), is_active (nuevo)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201168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66760" y="2121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Suscripción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41401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paddle_subscriptions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8833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current_period_ends_at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74904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3858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15137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4256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icon, schedule (JSON)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374904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617720" y="3858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415137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44256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content, ai_output, due_date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83880" y="374904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66760" y="3858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IA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415137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ai_usage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44256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created_at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34840" y="530352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617720" y="5413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(Storage)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617720" y="57058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content-files · diagrams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617720" y="59801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adjuntos e imágenes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83880" y="530352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366760" y="5413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de plan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57058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plan_limits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59801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kind, monthly_limit, daily_limit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 flipH="1">
            <a:off x="3840480" y="2551176"/>
            <a:ext cx="594360" cy="91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29050" y="2423160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29050" y="242316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589520" y="2551176"/>
            <a:ext cx="594360" cy="91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78090" y="2423160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78090" y="242316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12180" y="3090672"/>
            <a:ext cx="914" cy="658368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03570" y="3291840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703570" y="329184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40480" y="4288536"/>
            <a:ext cx="594360" cy="91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29050" y="4160520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829050" y="416052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 flipH="1">
            <a:off x="2258568" y="2971800"/>
            <a:ext cx="2176272" cy="77724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37510" y="3182112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937510" y="3182112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589520" y="2971800"/>
            <a:ext cx="2167128" cy="77724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23910" y="3182112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423910" y="3182112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012180" y="4828032"/>
            <a:ext cx="914" cy="475488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772150" y="4937760"/>
            <a:ext cx="4800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772150" y="4937760"/>
            <a:ext cx="480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761220" y="4828032"/>
            <a:ext cx="914" cy="475488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9246870" y="4937760"/>
            <a:ext cx="10287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246870" y="4937760"/>
            <a:ext cx="10287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+ tipo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continuas: claves foráneas. Discontinuas: relación lógica. El diagrama completo con atributos está en docs/diagramas/modelo-datos.png.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 clave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que el sistema respeta sin importar cómo se programe (18 en total, sección 9).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12848"/>
            <a:ext cx="1395374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212848"/>
            <a:ext cx="1395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RN-03 · RN-04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786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sale de Paddle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26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mientras la suscripción esté activa, en prueba o con pago pendiente. Al cancelar, sigue en Pro hasta el fin del periodo pagado.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212848"/>
            <a:ext cx="1395374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2212848"/>
            <a:ext cx="1395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RN-05 · RN-08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5786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de IA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926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Starter: 20 ayudas y 5 resúmenes al mes. Pro: 30 diagramas al mes y máximo 100 generaciones en 24 h. 0 = no incluido; vacío = sin límite.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212848"/>
            <a:ext cx="79552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212848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RN-07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5786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uso por contenido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926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contenido consume un uso de su tipo; si la IA falla, el uso se devuelve. Editar no consume usos.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315968"/>
            <a:ext cx="79552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315968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RN-09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6817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029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Clases, contenidos y adjuntos son privados. El administrador ve cifras, nunca el contenido.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9768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4315968"/>
            <a:ext cx="79552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4315968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RN-14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46817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bloqueado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5029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 a 10 preguntas con 4 opciones y 1 correcta; solo se envía con todo respondido y luego no cambia.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4672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75320" y="4315968"/>
            <a:ext cx="1395374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75320" y="4315968"/>
            <a:ext cx="1395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RN-16 · RN-17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6817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Suspensión con motivo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5029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administrador no suspende a otro ni a sí mismo. La cuenta suspendida conserva sus datos.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y flujo entre ellas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pantallas distintas en propósito; las ventanas modales vuelven a la pantalla desde la que se abrieron.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EEF0F2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172200" y="1810512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FFF7E6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94360" y="2926080"/>
            <a:ext cx="11018520" cy="3337560"/>
          </a:xfrm>
          <a:prstGeom prst="roundRect">
            <a:avLst>
              <a:gd name="adj" fmla="val 3288"/>
            </a:avLst>
          </a:prstGeom>
          <a:solidFill>
            <a:srgbClr val="EEF9F1"/>
          </a:solidFill>
          <a:ln w="12700">
            <a:solidFill>
              <a:srgbClr val="22C55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31520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962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 (STARTER Y PRO)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2121408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" y="21214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Página de inicio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2121408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30752" y="21214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Inicio de sesión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6520" y="2121408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21214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Panel de administración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2121408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8592" y="21214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Límites de planes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342900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342900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Mis clases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342900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30752" y="342900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Detalle de clase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42900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9672" y="342900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Nuevo contenido: tipo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35440" y="342900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08592" y="342900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Nuevo contenido: formulario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443484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1832" y="443484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Crear o editar clase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0" y="443484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30752" y="443484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Ver o editar contenido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443484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19672" y="443484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Resolver quiz (Pro)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8680" y="544068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1832" y="544068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Calendario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0" y="544068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30752" y="544068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Todos los contenidos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544068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19672" y="544068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Configuración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235440" y="544068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08592" y="544068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de Paddle (externo)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17520" y="2377440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806440" y="2377440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595360" y="2377440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017520" y="3685032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806440" y="3685032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595360" y="3685032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920240" y="3977640"/>
            <a:ext cx="914" cy="42062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709160" y="3977640"/>
            <a:ext cx="914" cy="42062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577840" y="3977640"/>
            <a:ext cx="1051560" cy="42062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4709160" y="4983480"/>
            <a:ext cx="914" cy="42062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595360" y="5696712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54" name="Shape 52"/>
          <p:cNvSpPr/>
          <p:nvPr/>
        </p:nvSpPr>
        <p:spPr>
          <a:xfrm flipH="1">
            <a:off x="2651760" y="2670048"/>
            <a:ext cx="1325880" cy="722376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040380" y="271576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040380" y="2715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estudiante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96128" y="2231136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596128" y="22311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admin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287000" y="3977640"/>
            <a:ext cx="914" cy="246888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>
            <a:off x="5394960" y="4224528"/>
            <a:ext cx="489204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5394960" y="3977640"/>
            <a:ext cx="914" cy="246888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663940" y="4096512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663940" y="4096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Crear: vuelve a 05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importantes y su razón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01368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67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Google para iniciar sesión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34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guardamos contraseñas y el registro toma un clic.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801368"/>
            <a:ext cx="1245413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801368"/>
            <a:ext cx="1245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D-02 · D-03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167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límites en la base de datos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834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y funciones con bloqueo por usuario: ni llamando la API se leen datos ajenos o se pasa el límite.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801368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1801368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167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lo decide el webhook de Paddle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834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confiamos en el navegador para saber si alguien pagó.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087368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087368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453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original y resultado de IA por separado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edita el resultado sin perder lo que escribió el estudiante.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97680" y="3886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4087368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26280" y="4087368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4453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 como JSON dentro de la clase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lee y edita junto con la clase; el navegador lo convierte a fechas en su zona horaria.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46720" y="3886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75320" y="4087368"/>
            <a:ext cx="1245413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4087368"/>
            <a:ext cx="1245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D-08 · D-09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453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sin acceso a contenidos, con bitácora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y rastro de quién hizo qué y por qué.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y supuestos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1324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9385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2656698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2560320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desarrolla y sustenta dentro del semestre.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059765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2963388"/>
            <a:ext cx="4572000" cy="47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fijo: Next.js 16, Supabase, OpenAI, Paddle y Vercel.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3683020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97280" y="3586643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inicio de sesión con Google.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4086088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97280" y="3989710"/>
            <a:ext cx="4572000" cy="47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generación de IA cuesta: por eso hay límites por plan.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14400" y="4709343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97280" y="4612965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de prueba en el sandbox de Paddle.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14400" y="5112410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97280" y="5016033"/>
            <a:ext cx="4572000" cy="47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de hasta 5 MB; solo web, en español y tema claro.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17920" y="1600200"/>
            <a:ext cx="541324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1938528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13232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Supuestos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6583680" y="2656698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766560" y="2560320"/>
            <a:ext cx="4572000" cy="47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estudiantes tienen cuenta de Google e internet estable.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583680" y="3279953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766560" y="3183575"/>
            <a:ext cx="4572000" cy="47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Supabase, OpenAI, Paddle y Vercel están disponibles.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583680" y="3903208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766560" y="3806830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contenido tiene hasta unas 1.500 palabras.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583680" y="4306275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766560" y="4209898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y límites se mantienen durante el semestre.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583680" y="4709343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766560" y="4612965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el equipo tiene el rol de administrador.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6583680" y="5112410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766560" y="5016033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puede equivocarse; el estudiante revisa y edita.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pic>
        <p:nvPicPr>
          <p:cNvPr id="3" name="Image 0" descr="/private/tmp/claude-501/-Users-danielc-dev-PARCIAL-PW/abde4a46-13e0-4506-a2bc-8a08fd8ea390/scratchpad/deck-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475488" cy="5852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Classly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5F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148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del proyecto: docs/definicion.md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docs/mockup/ · Presentación: docs/presentacion/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 err="1">
                <a:solidFill>
                  <a:srgbClr val="D1D5DB"/>
                </a:solidFill>
                <a:latin typeface="Arial"/>
                <a:ea typeface="Arial" pitchFamily="34" charset="-122"/>
                <a:cs typeface="Arial"/>
              </a:rPr>
              <a:t>Repositorio</a:t>
            </a:r>
            <a:r>
              <a:rPr lang="en-US" sz="1400" dirty="0">
                <a:solidFill>
                  <a:srgbClr val="D1D5DB"/>
                </a:solidFill>
                <a:latin typeface="Arial"/>
                <a:ea typeface="Arial" pitchFamily="34" charset="-122"/>
                <a:cs typeface="Arial"/>
              </a:rPr>
              <a:t>: </a:t>
            </a:r>
            <a:r>
              <a:rPr lang="en-US" sz="1400" dirty="0">
                <a:solidFill>
                  <a:srgbClr val="D1D5DB"/>
                </a:solidFill>
                <a:ea typeface="+mn-lt"/>
                <a:cs typeface="+mn-lt"/>
              </a:rPr>
              <a:t>https://github.com/Dani0306/PRYECTO-PW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46520" y="1417320"/>
            <a:ext cx="5257800" cy="3429000"/>
          </a:xfrm>
          <a:prstGeom prst="roundRect">
            <a:avLst>
              <a:gd name="adj" fmla="val 4267"/>
            </a:avLst>
          </a:prstGeom>
          <a:solidFill>
            <a:srgbClr val="1F2937"/>
          </a:solidFill>
          <a:ln w="19050">
            <a:solidFill>
              <a:srgbClr val="35F527"/>
            </a:solidFill>
            <a:prstDash val="solid"/>
          </a:ln>
        </p:spPr>
      </p:sp>
      <p:pic>
        <p:nvPicPr>
          <p:cNvPr id="9" name="Image 1" descr="Panel de administración de Classl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554480"/>
            <a:ext cx="4983480" cy="31144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26</Slides>
  <Notes>26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7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Classly: definición del proyecto</dc:title>
  <dc:subject>PptxGenJS Presentation</dc:subject>
  <dc:creator>Equipo Classly</dc:creator>
  <cp:lastModifiedBy>Equipo Classly</cp:lastModifiedBy>
  <cp:revision>11</cp:revision>
  <dcterms:created xsi:type="dcterms:W3CDTF">2026-09-26T07:04:19Z</dcterms:created>
  <dcterms:modified xsi:type="dcterms:W3CDTF">2026-09-26T12:19:16Z</dcterms:modified>
</cp:coreProperties>
</file>